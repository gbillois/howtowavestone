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gradFill>
            <a:gsLst>
              <a:gs pos="0">
                <a:srgbClr val="5226E0"/>
              </a:gs>
              <a:gs pos="100000">
                <a:srgbClr val="2D1380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017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Wavestone CYB · AI 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32918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F59E"/>
                </a:solidFill>
                <a:latin typeface="Consolas"/>
              </a:rPr>
              <a:t>Point d'avancement · Interne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40">
                <a:solidFill>
                  <a:srgbClr val="FFFFFF"/>
                </a:solidFill>
                <a:latin typeface="Inter"/>
              </a:rPr>
              <a:t>PARTIE 01 · BESOIN &amp; PRINCIPES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88136"/>
            <a:ext cx="502920" cy="27940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L'IA Agentique </a:t>
            </a:r>
            <a:r>
              <a:rPr sz="3000" b="1">
                <a:solidFill>
                  <a:srgbClr val="04F06A"/>
                </a:solidFill>
                <a:latin typeface="Poppins"/>
              </a:rPr>
              <a:t>chez CYB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11183112" cy="1280160"/>
          </a:xfrm>
          <a:prstGeom prst="rect">
            <a:avLst/>
          </a:prstGeom>
          <a:solidFill>
            <a:srgbClr val="150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64008" cy="1280160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579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20">
                <a:solidFill>
                  <a:srgbClr val="5CF59E"/>
                </a:solidFill>
                <a:latin typeface="Consolas"/>
              </a:rPr>
              <a:t>LE BESOIN · BLOC TRANSVERSE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0487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Accélérer nos missions avec des agents IA utilisables rapidement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F59E"/>
                </a:solidFill>
                <a:latin typeface="Inter"/>
              </a:rPr>
              <a:t>▸  </a:t>
            </a:r>
            <a:r>
              <a:rPr sz="1150" b="0">
                <a:solidFill>
                  <a:srgbClr val="EAE7F6"/>
                </a:solidFill>
                <a:latin typeface="Inter"/>
              </a:rPr>
              <a:t>Des agents utilisables rapidement, en respectant les contraintes </a:t>
            </a:r>
            <a:r>
              <a:rPr sz="1150" b="1">
                <a:solidFill>
                  <a:srgbClr val="FFFFFF"/>
                </a:solidFill>
                <a:latin typeface="Inter"/>
              </a:rPr>
              <a:t>technologiques et sécurité</a:t>
            </a:r>
            <a:r>
              <a:rPr sz="1150" b="0">
                <a:solidFill>
                  <a:srgbClr val="EAE7F6"/>
                </a:solidFill>
                <a:latin typeface="Inter"/>
              </a:rPr>
              <a:t> de nos clients.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CF59E"/>
                </a:solidFill>
                <a:latin typeface="Inter"/>
              </a:rPr>
              <a:t>▸  </a:t>
            </a:r>
            <a:r>
              <a:rPr sz="1150" b="0">
                <a:solidFill>
                  <a:srgbClr val="EAE7F6"/>
                </a:solidFill>
                <a:latin typeface="Inter"/>
              </a:rPr>
              <a:t>Une approche </a:t>
            </a:r>
            <a:r>
              <a:rPr sz="1150" b="1">
                <a:solidFill>
                  <a:srgbClr val="FFFFFF"/>
                </a:solidFill>
                <a:latin typeface="Inter"/>
              </a:rPr>
              <a:t>dynamique, légère</a:t>
            </a:r>
            <a:r>
              <a:rPr sz="1150" b="0">
                <a:solidFill>
                  <a:srgbClr val="EAE7F6"/>
                </a:solidFill>
                <a:latin typeface="Inter"/>
              </a:rPr>
              <a:t> et d'autonomisation des consultants.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015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30">
                <a:solidFill>
                  <a:srgbClr val="451DC7"/>
                </a:solidFill>
                <a:latin typeface="Inter"/>
              </a:rPr>
              <a:t>LE MODÈLE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502920" cy="27940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5468112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D1C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64008" cy="1170432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" y="3977640"/>
            <a:ext cx="310896" cy="310896"/>
          </a:xfrm>
          <a:prstGeom prst="rect">
            <a:avLst/>
          </a:prstGeom>
          <a:solidFill>
            <a:srgbClr val="E1F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8A42"/>
                </a:solidFill>
                <a:latin typeface="Poppi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50208"/>
            <a:ext cx="4645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21F"/>
                </a:solidFill>
                <a:latin typeface="Poppins"/>
              </a:rPr>
              <a:t>Une philosophie de création simple &amp; rapide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343400"/>
            <a:ext cx="50840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Des agents utilisables simplement chez nos clients, dans le respect de la sécurité. Pages HTML autonomes + appel API aux IA du client (voire en local), décorrélées de l'infra et des LLM.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5468112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94760"/>
            <a:ext cx="64008" cy="1170432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9088" y="3977640"/>
            <a:ext cx="310896" cy="310896"/>
          </a:xfrm>
          <a:prstGeom prst="rect">
            <a:avLst/>
          </a:prstGeom>
          <a:solidFill>
            <a:srgbClr val="F1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51DC7"/>
                </a:solidFill>
                <a:latin typeface="Poppi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50208"/>
            <a:ext cx="4645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21F"/>
                </a:solidFill>
                <a:latin typeface="Poppins"/>
              </a:rPr>
              <a:t>Un portail AI CYB Maker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343400"/>
            <a:ext cx="50840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Expose nos agents et permet de les télécharger pour les missions, avec une infrastructure CYB pour en créer en autonomie selon notre philosophie.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7192" y="4636008"/>
            <a:ext cx="1993392" cy="246888"/>
          </a:xfrm>
          <a:prstGeom prst="rect">
            <a:avLst/>
          </a:prstGeom>
          <a:solidFill>
            <a:srgbClr val="F1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37192" y="4636008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6169B"/>
                </a:solidFill>
                <a:latin typeface="Consolas"/>
              </a:rPr>
              <a:t>Porteurs : Adrien &amp; François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11496"/>
            <a:ext cx="5468112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111496"/>
            <a:ext cx="64008" cy="1170432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" y="5294376"/>
            <a:ext cx="310896" cy="310896"/>
          </a:xfrm>
          <a:prstGeom prst="rect">
            <a:avLst/>
          </a:prstGeom>
          <a:solidFill>
            <a:srgbClr val="F1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294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51DC7"/>
                </a:solidFill>
                <a:latin typeface="Poppi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266944"/>
            <a:ext cx="4645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21F"/>
                </a:solidFill>
                <a:latin typeface="Poppins"/>
              </a:rPr>
              <a:t>Des agents à disposition des collaborateurs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5660136"/>
            <a:ext cx="50840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Accélèrent un besoin de mission ou métier. Un Product Manager anime, forme et adapte l'outil. Une clé API par mission, budget cappé défini en proposition.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111496"/>
            <a:ext cx="5468112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5111496"/>
            <a:ext cx="64008" cy="1170432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19088" y="5294376"/>
            <a:ext cx="310896" cy="310896"/>
          </a:xfrm>
          <a:prstGeom prst="rect">
            <a:avLst/>
          </a:prstGeom>
          <a:solidFill>
            <a:srgbClr val="F1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5294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51DC7"/>
                </a:solidFill>
                <a:latin typeface="Poppin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66944"/>
            <a:ext cx="4645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21F"/>
                </a:solidFill>
                <a:latin typeface="Poppins"/>
              </a:rPr>
              <a:t>Une création accessible à chacun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5660136"/>
            <a:ext cx="50840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Chaque collaborateur peut créer ses agents : tutoriels, outils simples, et une communauté de makers sur Teams qui partage astuces et fonctionnalités.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73952"/>
            <a:ext cx="11183112" cy="12700"/>
          </a:xfrm>
          <a:prstGeom prst="rect">
            <a:avLst/>
          </a:prstGeom>
          <a:solidFill>
            <a:srgbClr val="E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17C95"/>
                </a:solidFill>
                <a:latin typeface="Consolas"/>
              </a:rPr>
              <a:t>Wavestone CYB · AI Maker Initiative — point d'avancement interne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4175" y="65105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17C95"/>
                </a:solidFill>
                <a:latin typeface="Consolas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>
            <a:gsLst>
              <a:gs pos="0">
                <a:srgbClr val="5226E0"/>
              </a:gs>
              <a:gs pos="100000">
                <a:srgbClr val="2D1380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118872" cy="118872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8346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Wavestone CYB · AI 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31089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F59E"/>
                </a:solidFill>
                <a:latin typeface="Consolas"/>
              </a:rPr>
              <a:t>À date, où en est-on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40">
                <a:solidFill>
                  <a:srgbClr val="FFFFFF"/>
                </a:solidFill>
                <a:latin typeface="Inter"/>
              </a:rPr>
              <a:t>PARTIE 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2920" cy="27940"/>
          </a:xfrm>
          <a:prstGeom prst="rect">
            <a:avLst/>
          </a:prstGeom>
          <a:solidFill>
            <a:srgbClr val="04F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6400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Poppins"/>
              </a:rPr>
              <a:t>Plan d'action &amp; </a:t>
            </a:r>
            <a:r>
              <a:rPr sz="2600" b="1">
                <a:solidFill>
                  <a:srgbClr val="04F06A"/>
                </a:solidFill>
                <a:latin typeface="Poppins"/>
              </a:rPr>
              <a:t>avancement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2679192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36192"/>
            <a:ext cx="64008" cy="841248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27632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451DC7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664208"/>
            <a:ext cx="13990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agents en ligne,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en déploiement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536192"/>
            <a:ext cx="2679192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536192"/>
            <a:ext cx="64008" cy="841248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627632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451DC7"/>
                </a:solidFill>
                <a:latin typeface="Poppin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64208"/>
            <a:ext cx="13990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agents en cours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de développement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536192"/>
            <a:ext cx="2679192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536192"/>
            <a:ext cx="64008" cy="841248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27632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451DC7"/>
                </a:solidFill>
                <a:latin typeface="Poppins"/>
              </a:rPr>
              <a:t>7 juil.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664208"/>
            <a:ext cx="13990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objectif 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sortie des MVP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536192"/>
            <a:ext cx="2679192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536192"/>
            <a:ext cx="64008" cy="841248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627632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451DC7"/>
                </a:solidFill>
                <a:latin typeface="Poppi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664208"/>
            <a:ext cx="13990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chantiers actifs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en parallèle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670048"/>
            <a:ext cx="11183112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670048"/>
            <a:ext cx="64008" cy="86868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779776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21F"/>
                </a:solidFill>
                <a:latin typeface="Poppins"/>
              </a:rPr>
              <a:t>Agents CYB 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090672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3 créés (Crisis Maker, Pentest, IAM Data) · 1 en adaptation (Analyse de risque) · 5 en dév.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715768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80"/>
                </a:solidFill>
                <a:latin typeface="Inter"/>
              </a:rPr>
              <a:t>Avancement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715768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51DC7"/>
                </a:solidFill>
                <a:latin typeface="Consolas"/>
              </a:rPr>
              <a:t>60 %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962656"/>
            <a:ext cx="2788920" cy="128016"/>
          </a:xfrm>
          <a:prstGeom prst="rect">
            <a:avLst/>
          </a:prstGeom>
          <a:solidFill>
            <a:srgbClr val="E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2962656"/>
            <a:ext cx="1673352" cy="128016"/>
          </a:xfrm>
          <a:prstGeom prst="rect">
            <a:avLst/>
          </a:prstGeom>
          <a:gradFill>
            <a:gsLst>
              <a:gs pos="0">
                <a:srgbClr val="04F06A"/>
              </a:gs>
              <a:gs pos="100000">
                <a:srgbClr val="5CF59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1272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51DC7"/>
                </a:solidFill>
                <a:latin typeface="Inter"/>
              </a:rPr>
              <a:t>🎯  </a:t>
            </a:r>
            <a:r>
              <a:rPr sz="869" b="0">
                <a:solidFill>
                  <a:srgbClr val="3A3550"/>
                </a:solidFill>
                <a:latin typeface="Inter"/>
              </a:rPr>
              <a:t>Objectif : MVP pour le 7 juillet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621024"/>
            <a:ext cx="11183112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621024"/>
            <a:ext cx="64008" cy="86868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730752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21F"/>
                </a:solidFill>
                <a:latin typeface="Poppins"/>
              </a:rPr>
              <a:t>Portail CYB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041648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Structuration faite (porteur : Adrien), à migrer sur SharePoint · Tutoriels 2/4 réalisés.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66674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80"/>
                </a:solidFill>
                <a:latin typeface="Inter"/>
              </a:rPr>
              <a:t>Avancement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66674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51DC7"/>
                </a:solidFill>
                <a:latin typeface="Consolas"/>
              </a:rPr>
              <a:t>45 %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3913632"/>
            <a:ext cx="2788920" cy="128016"/>
          </a:xfrm>
          <a:prstGeom prst="rect">
            <a:avLst/>
          </a:prstGeom>
          <a:solidFill>
            <a:srgbClr val="E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89520" y="3913632"/>
            <a:ext cx="1255014" cy="128016"/>
          </a:xfrm>
          <a:prstGeom prst="rect">
            <a:avLst/>
          </a:prstGeom>
          <a:gradFill>
            <a:gsLst>
              <a:gs pos="0">
                <a:srgbClr val="04F06A"/>
              </a:gs>
              <a:gs pos="100000">
                <a:srgbClr val="5CF59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407822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51DC7"/>
                </a:solidFill>
                <a:latin typeface="Inter"/>
              </a:rPr>
              <a:t>🎯  </a:t>
            </a:r>
            <a:r>
              <a:rPr sz="869" b="0">
                <a:solidFill>
                  <a:srgbClr val="3A3550"/>
                </a:solidFill>
                <a:latin typeface="Inter"/>
              </a:rPr>
              <a:t>Objectif : à poursuivre sur l'été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572000"/>
            <a:ext cx="11183112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572000"/>
            <a:ext cx="64008" cy="86868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681728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21F"/>
                </a:solidFill>
                <a:latin typeface="Poppins"/>
              </a:rPr>
              <a:t>Infrastructure CYB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4992624"/>
            <a:ext cx="1234440" cy="237744"/>
          </a:xfrm>
          <a:prstGeom prst="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4992624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spc="50">
                <a:solidFill>
                  <a:srgbClr val="C8861A"/>
                </a:solidFill>
                <a:latin typeface="Consolas"/>
              </a:rPr>
              <a:t>PRIORITÉ N°1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4992624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Clés API avec suivi/cap : OK · Licences (Claude Code) : en cours · Infra interne 1/4 (locale OK).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4617720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80"/>
                </a:solidFill>
                <a:latin typeface="Inter"/>
              </a:rPr>
              <a:t>Avancement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4617720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51DC7"/>
                </a:solidFill>
                <a:latin typeface="Consolas"/>
              </a:rPr>
              <a:t>35 %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4864608"/>
            <a:ext cx="2788920" cy="128016"/>
          </a:xfrm>
          <a:prstGeom prst="rect">
            <a:avLst/>
          </a:prstGeom>
          <a:solidFill>
            <a:srgbClr val="E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20" y="4864608"/>
            <a:ext cx="976122" cy="128016"/>
          </a:xfrm>
          <a:prstGeom prst="rect">
            <a:avLst/>
          </a:prstGeom>
          <a:gradFill>
            <a:gsLst>
              <a:gs pos="0">
                <a:srgbClr val="04F06A"/>
              </a:gs>
              <a:gs pos="100000">
                <a:srgbClr val="5CF59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50292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8861A"/>
                </a:solidFill>
                <a:latin typeface="Inter"/>
              </a:rPr>
              <a:t>⚠  </a:t>
            </a:r>
            <a:r>
              <a:rPr sz="869" b="0">
                <a:solidFill>
                  <a:srgbClr val="3A3550"/>
                </a:solidFill>
                <a:latin typeface="Inter"/>
              </a:rPr>
              <a:t>Priorité n°1 : quitter les outils personnels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522976"/>
            <a:ext cx="11183112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E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5522976"/>
            <a:ext cx="64008" cy="86868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5632704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21F"/>
                </a:solidFill>
                <a:latin typeface="Poppins"/>
              </a:rPr>
              <a:t>Formation &amp; Communication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5943600"/>
            <a:ext cx="1234440" cy="237744"/>
          </a:xfrm>
          <a:prstGeom prst="rect">
            <a:avLst/>
          </a:prstGeom>
          <a:solidFill>
            <a:srgbClr val="F1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594360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spc="50">
                <a:solidFill>
                  <a:srgbClr val="36169B"/>
                </a:solidFill>
                <a:latin typeface="Consolas"/>
              </a:rPr>
              <a:t>CHANTIER MAJEUR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594360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6580"/>
                </a:solidFill>
                <a:latin typeface="Inter"/>
              </a:rPr>
              <a:t>Global Talk IA : réalisé · Newsletter, communauté Maker &amp; cycle de formation : à faire (été).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5568696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80"/>
                </a:solidFill>
                <a:latin typeface="Inter"/>
              </a:rPr>
              <a:t>Avancement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568696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51DC7"/>
                </a:solidFill>
                <a:latin typeface="Consolas"/>
              </a:rPr>
              <a:t>25 %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5815584"/>
            <a:ext cx="2788920" cy="128016"/>
          </a:xfrm>
          <a:prstGeom prst="rect">
            <a:avLst/>
          </a:prstGeom>
          <a:solidFill>
            <a:srgbClr val="E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89520" y="5815584"/>
            <a:ext cx="697230" cy="128016"/>
          </a:xfrm>
          <a:prstGeom prst="rect">
            <a:avLst/>
          </a:prstGeom>
          <a:gradFill>
            <a:gsLst>
              <a:gs pos="0">
                <a:srgbClr val="04F06A"/>
              </a:gs>
              <a:gs pos="100000">
                <a:srgbClr val="5CF59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0" y="598017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51DC7"/>
                </a:solidFill>
                <a:latin typeface="Inter"/>
              </a:rPr>
              <a:t>🎯  </a:t>
            </a:r>
            <a:r>
              <a:rPr sz="869" b="0">
                <a:solidFill>
                  <a:srgbClr val="3A3550"/>
                </a:solidFill>
                <a:latin typeface="Inter"/>
              </a:rPr>
              <a:t>Global Talk de rentrée pour présenter le portail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6473952"/>
            <a:ext cx="11183112" cy="12700"/>
          </a:xfrm>
          <a:prstGeom prst="rect">
            <a:avLst/>
          </a:prstGeom>
          <a:solidFill>
            <a:srgbClr val="E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17C95"/>
                </a:solidFill>
                <a:latin typeface="Consolas"/>
              </a:rPr>
              <a:t>Wavestone CYB · AI Maker Initiative — mise à jour : 19 juin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74175" y="65105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17C95"/>
                </a:solidFill>
                <a:latin typeface="Consolas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